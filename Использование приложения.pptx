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4630400" cy="8229600"/>
  <p:notesSz cx="8229600" cy="14630400"/>
  <p:embeddedFontLst>
    <p:embeddedFont>
      <p:font typeface="Inter" panose="020B0604020202020204" charset="0"/>
      <p:regular r:id="rId1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5898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0787"/>
            <a:ext cx="11707021" cy="319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Инструкция пользователя по работе с мобильным приложением «Система учёта доходов и расходов малого бизнеса»</a:t>
            </a:r>
            <a:endParaRPr lang="en-US" sz="44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6CF52F-61D2-D95F-E6CC-760FF580377A}"/>
              </a:ext>
            </a:extLst>
          </p:cNvPr>
          <p:cNvSpPr txBox="1"/>
          <p:nvPr/>
        </p:nvSpPr>
        <p:spPr>
          <a:xfrm>
            <a:off x="914399" y="6560279"/>
            <a:ext cx="82175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Выполнил студент группы: Мазитов Динар 409ИС-22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997ABFC-124A-07C2-88BB-5B58502A52EB}"/>
              </a:ext>
            </a:extLst>
          </p:cNvPr>
          <p:cNvSpPr/>
          <p:nvPr/>
        </p:nvSpPr>
        <p:spPr>
          <a:xfrm>
            <a:off x="12765506" y="7411453"/>
            <a:ext cx="1732547" cy="70986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8231"/>
            <a:ext cx="508051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1) Запуск приложения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203157" y="1990260"/>
            <a:ext cx="12224084" cy="1176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После установки и запуска приложения на экране отображается стартовое окно (Splash Screen), после чего пользователь автоматически перенаправляется: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03157" y="3705726"/>
            <a:ext cx="8193799" cy="1176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экран входа — если не авторизован;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главный экран — если уже вошёл в систему.</a:t>
            </a:r>
            <a:endParaRPr lang="en-US" sz="24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E2032EF-42A8-D3FA-8EFE-D0CE57D60041}"/>
              </a:ext>
            </a:extLst>
          </p:cNvPr>
          <p:cNvSpPr/>
          <p:nvPr/>
        </p:nvSpPr>
        <p:spPr>
          <a:xfrm>
            <a:off x="12765506" y="7411453"/>
            <a:ext cx="1732547" cy="70986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07570"/>
            <a:ext cx="102109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2) Регистрация пользователя и авторизация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452619"/>
            <a:ext cx="62447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Для создания нового аккаунта необходимо: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056566"/>
            <a:ext cx="6244709" cy="241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экране входа нажать кнопку «Зарегистрироваться»;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Ввести логин и пароль;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Выбрать роль пользователя (Администратор или Менеджер);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Нажать кнопку «Зарегистрироваться».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47186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После успешной регистрации пользователь может войти в систему.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471310"/>
            <a:ext cx="36853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Для входа в приложение: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6099848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Ввести логин;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Ввести пароль;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Нажать кнопку «Войти».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89" y="734714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После входа открывается главный экран приложения.</a:t>
            </a:r>
            <a:endParaRPr lang="en-US" sz="1750" dirty="0"/>
          </a:p>
        </p:txBody>
      </p:sp>
      <p:pic>
        <p:nvPicPr>
          <p:cNvPr id="10" name="Рисунок 9" descr="Изображение выглядит как Мобильный телефон, снимок экрана, гаджет, Мобильное устрой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71D217C-1D99-FFD9-2DE7-F184A29EA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137" y="1744648"/>
            <a:ext cx="2228055" cy="4496308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электроника, Мобильный телефон, гаджет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A403302-4B4F-8729-5EB7-777E18BCED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5910" y="1744648"/>
            <a:ext cx="2228056" cy="4496308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86A323F-3FFA-04F7-63E5-DAE844620CF6}"/>
              </a:ext>
            </a:extLst>
          </p:cNvPr>
          <p:cNvSpPr/>
          <p:nvPr/>
        </p:nvSpPr>
        <p:spPr>
          <a:xfrm>
            <a:off x="12765506" y="7411453"/>
            <a:ext cx="1732547" cy="70986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7471" y="765810"/>
            <a:ext cx="6288405" cy="512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3) Главный экран («Главная»)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7471" y="1648897"/>
            <a:ext cx="13195459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главном экране отображается: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7471" y="2169438"/>
            <a:ext cx="6495335" cy="144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Общий баланс;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Список финансовых операций;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Кнопка добавления операции;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Категории (для администратора).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9833" y="3820835"/>
            <a:ext cx="6642973" cy="3642836"/>
          </a:xfrm>
          <a:prstGeom prst="roundRect">
            <a:avLst>
              <a:gd name="adj" fmla="val 4052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774740" y="4006096"/>
            <a:ext cx="3316724" cy="327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 err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Добавление</a:t>
            </a:r>
            <a:r>
              <a:rPr lang="en-US" sz="2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операции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4740" y="4519255"/>
            <a:ext cx="6233160" cy="1819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Нажать кнопку «Добавить»;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Выбрать тип операции (Доход / Расход);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Выбрать категорию;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Ввести сумму;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Font typeface="+mj-lt"/>
              <a:buAutoNum type="arabicPeriod" startAt="5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Сохранить.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4740" y="6241306"/>
            <a:ext cx="6233160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Операция появится в списке.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72851" y="4006096"/>
            <a:ext cx="3025973" cy="327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Просмотр</a:t>
            </a: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операций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572851" y="4519255"/>
            <a:ext cx="6347698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списке отображаются: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72851" y="4998125"/>
            <a:ext cx="6347698" cy="1819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Название операции;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Дата;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Категория;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Сумма;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Тип операции.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72851" y="6818114"/>
            <a:ext cx="6347698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удаления операции используется свайп влево.</a:t>
            </a:r>
            <a:endParaRPr lang="en-US" sz="1600" dirty="0"/>
          </a:p>
        </p:txBody>
      </p:sp>
      <p:pic>
        <p:nvPicPr>
          <p:cNvPr id="14" name="Рисунок 13" descr="Изображение выглядит как снимок экрана, Мобильный телефон, текст, мультимеди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0E9D32A-2EA6-5981-AF75-26B401F18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5927" y="637595"/>
            <a:ext cx="2439733" cy="4980595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1FA412F-0FAB-D1C1-87A7-B580633E9D96}"/>
              </a:ext>
            </a:extLst>
          </p:cNvPr>
          <p:cNvSpPr/>
          <p:nvPr/>
        </p:nvSpPr>
        <p:spPr>
          <a:xfrm>
            <a:off x="12765506" y="7411453"/>
            <a:ext cx="1732547" cy="70986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453" y="676275"/>
            <a:ext cx="4374475" cy="546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4) Аналитика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65453" y="1644729"/>
            <a:ext cx="13099494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Раздел «Аналитика» предназначен для анализа финансовых данных.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65453" y="2225516"/>
            <a:ext cx="13099494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данном разделе доступны: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65453" y="2806303"/>
            <a:ext cx="13099494" cy="201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Выбор периода;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Переключение между доходами и расходами;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Просмотр среднего значения;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Просмотр суммы за период;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График динамики.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5453" y="5135999"/>
            <a:ext cx="2968109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Работа с аналитикой: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765453" y="5794058"/>
            <a:ext cx="13099494" cy="1178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Выбрать период;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Выбрать «Доход» или «Расход»;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Ознакомиться с результатами на графике.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65453" y="6972539"/>
            <a:ext cx="5779726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8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Зелёная линия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доходы, </a:t>
            </a:r>
            <a:r>
              <a:rPr lang="en-US" sz="1700" dirty="0">
                <a:solidFill>
                  <a:srgbClr val="FF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Красная линия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расходы.</a:t>
            </a:r>
            <a:endParaRPr lang="en-US" sz="1700" dirty="0"/>
          </a:p>
        </p:txBody>
      </p:sp>
      <p:pic>
        <p:nvPicPr>
          <p:cNvPr id="10" name="Рисунок 9" descr="Изображение выглядит как текст, снимок экрана, Мобильный телефон, мультимеди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53D68B4-B0D5-1A7C-237A-2AA405522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9312" y="1644729"/>
            <a:ext cx="2910278" cy="5828018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27BCDE4-844B-1D08-4D10-0C99463801FC}"/>
              </a:ext>
            </a:extLst>
          </p:cNvPr>
          <p:cNvSpPr/>
          <p:nvPr/>
        </p:nvSpPr>
        <p:spPr>
          <a:xfrm>
            <a:off x="12765506" y="7411453"/>
            <a:ext cx="1732547" cy="70986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8679" y="728603"/>
            <a:ext cx="3742849" cy="467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5) Настройки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58679" y="1730693"/>
            <a:ext cx="1291304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разделе «Настройки» пользователь может: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58679" y="2177534"/>
            <a:ext cx="4796163" cy="2799040"/>
          </a:xfrm>
          <a:prstGeom prst="roundRect">
            <a:avLst>
              <a:gd name="adj" fmla="val 3920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819" y="2177534"/>
            <a:ext cx="91440" cy="2799040"/>
          </a:xfrm>
          <a:prstGeom prst="roundRect">
            <a:avLst>
              <a:gd name="adj" fmla="val 85960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1137166" y="2387441"/>
            <a:ext cx="233922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Выбор</a:t>
            </a: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валюты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37166" y="2780109"/>
            <a:ext cx="589097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Позволяет выбрать валюту отображения: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37166" y="3145988"/>
            <a:ext cx="5890974" cy="125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RUB (рубль),</a:t>
            </a:r>
            <a:endParaRPr lang="en-US" sz="145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USD (доллар),</a:t>
            </a:r>
            <a:endParaRPr lang="en-US" sz="145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EUR (евро),</a:t>
            </a:r>
            <a:endParaRPr lang="en-US" sz="145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 (лира).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37166" y="4493419"/>
            <a:ext cx="589097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суммы автоматически пересчитываются.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24942" y="2167890"/>
            <a:ext cx="5060679" cy="2799040"/>
          </a:xfrm>
          <a:prstGeom prst="roundRect">
            <a:avLst>
              <a:gd name="adj" fmla="val 3920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24942" y="2177534"/>
            <a:ext cx="91440" cy="2799040"/>
          </a:xfrm>
          <a:prstGeom prst="roundRect">
            <a:avLst>
              <a:gd name="adj" fmla="val 85960"/>
            </a:avLst>
          </a:prstGeom>
          <a:solidFill>
            <a:srgbClr val="4950BC"/>
          </a:solidFill>
          <a:ln/>
        </p:spPr>
      </p:sp>
      <p:sp>
        <p:nvSpPr>
          <p:cNvPr id="12" name="Text 10"/>
          <p:cNvSpPr/>
          <p:nvPr/>
        </p:nvSpPr>
        <p:spPr>
          <a:xfrm>
            <a:off x="6459585" y="2375117"/>
            <a:ext cx="233922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Выбор</a:t>
            </a: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языка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57212" y="2792588"/>
            <a:ext cx="589097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Доступные языки: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57212" y="3112151"/>
            <a:ext cx="4303873" cy="927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Русский,</a:t>
            </a:r>
            <a:endParaRPr lang="en-US" sz="145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Английский,</a:t>
            </a:r>
            <a:endParaRPr lang="en-US" sz="145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Турецкий.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57212" y="4039767"/>
            <a:ext cx="4593655" cy="28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Интерфейс приложения меняется автоматически.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58680" y="5130879"/>
            <a:ext cx="5698532" cy="2144673"/>
          </a:xfrm>
          <a:prstGeom prst="roundRect">
            <a:avLst>
              <a:gd name="adj" fmla="val 5116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5819" y="5130879"/>
            <a:ext cx="91440" cy="2144673"/>
          </a:xfrm>
          <a:prstGeom prst="roundRect">
            <a:avLst>
              <a:gd name="adj" fmla="val 85960"/>
            </a:avLst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1137166" y="5340787"/>
            <a:ext cx="233922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Выбор</a:t>
            </a: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темы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37166" y="5733455"/>
            <a:ext cx="589097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Пользователь может выбрать: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37166" y="6099334"/>
            <a:ext cx="5890974" cy="60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Светлую тему;</a:t>
            </a:r>
            <a:endParaRPr lang="en-US" sz="145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Тёмную тему.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137166" y="6699766"/>
            <a:ext cx="4426236" cy="36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Оформление приложения меняется в реальном времени.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964525" y="5130879"/>
            <a:ext cx="6379369" cy="2144673"/>
          </a:xfrm>
          <a:prstGeom prst="roundRect">
            <a:avLst>
              <a:gd name="adj" fmla="val 5116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227" y="5118679"/>
            <a:ext cx="91440" cy="2144673"/>
          </a:xfrm>
          <a:prstGeom prst="roundRect">
            <a:avLst>
              <a:gd name="adj" fmla="val 85960"/>
            </a:avLst>
          </a:prstGeom>
          <a:solidFill>
            <a:srgbClr val="4950BC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5325509"/>
            <a:ext cx="2574727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Выход</a:t>
            </a: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из аккаунта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15200" y="5826085"/>
            <a:ext cx="5890974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Кнопка «Выйти» выполняет выход из системы и возвращает пользователя на экран входа.</a:t>
            </a:r>
            <a:endParaRPr lang="en-US" sz="1450" dirty="0"/>
          </a:p>
        </p:txBody>
      </p:sp>
      <p:pic>
        <p:nvPicPr>
          <p:cNvPr id="27" name="Рисунок 26" descr="Изображение выглядит как Мобильный телефон, гаджет, Устройство связи, Электронное устрой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DF1DC1D-756B-0741-BF81-126BDC21B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7551" y="134135"/>
            <a:ext cx="2339221" cy="4782001"/>
          </a:xfrm>
          <a:prstGeom prst="rect">
            <a:avLst/>
          </a:prstGeom>
        </p:spPr>
      </p:pic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F90F1272-497B-2CA4-3A6C-05FB59F73091}"/>
              </a:ext>
            </a:extLst>
          </p:cNvPr>
          <p:cNvSpPr/>
          <p:nvPr/>
        </p:nvSpPr>
        <p:spPr>
          <a:xfrm>
            <a:off x="12765506" y="7411453"/>
            <a:ext cx="1732547" cy="70986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6658"/>
            <a:ext cx="1169765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6) Управление категориями (для администратора)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768642"/>
            <a:ext cx="5967957" cy="460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Администратор может: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3790" y="2296472"/>
            <a:ext cx="5967957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Добавлять категории;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Удалять категории;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Разделять их на доходы и расходы.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93789" y="3543771"/>
            <a:ext cx="5967957" cy="452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Менеджер может только использовать категории.</a:t>
            </a:r>
            <a:endParaRPr lang="en-US" sz="2400" dirty="0"/>
          </a:p>
        </p:txBody>
      </p:sp>
      <p:pic>
        <p:nvPicPr>
          <p:cNvPr id="7" name="Рисунок 6" descr="Изображение выглядит как текст, снимок экрана, Мобильный телефон, гадже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0E2C513-419A-A6C9-BB40-D933198FF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058" y="1768642"/>
            <a:ext cx="2757384" cy="5543123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BCD02CE-C66A-A567-F04C-96216250A864}"/>
              </a:ext>
            </a:extLst>
          </p:cNvPr>
          <p:cNvSpPr/>
          <p:nvPr/>
        </p:nvSpPr>
        <p:spPr>
          <a:xfrm>
            <a:off x="12765506" y="7411453"/>
            <a:ext cx="1732547" cy="70986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5913"/>
            <a:ext cx="4536519" cy="58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Заключение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3571610"/>
            <a:ext cx="8735220" cy="58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Приложение «Система учёта доходов и расходов малого бизнеса» позволяет: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2" y="4121941"/>
            <a:ext cx="8735220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✔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Вести финансовый учёт;</a:t>
            </a:r>
            <a:endParaRPr lang="en-US" sz="1750" dirty="0"/>
          </a:p>
          <a:p>
            <a:pPr algn="l">
              <a:lnSpc>
                <a:spcPts val="2850"/>
              </a:lnSpc>
              <a:buSzPct val="100000"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✔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Анализировать доходы и расходы;</a:t>
            </a:r>
            <a:endParaRPr lang="en-US" sz="1750" dirty="0"/>
          </a:p>
          <a:p>
            <a:pPr algn="l">
              <a:lnSpc>
                <a:spcPts val="2850"/>
              </a:lnSpc>
              <a:buSzPct val="100000"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✔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Работать с валютами;</a:t>
            </a:r>
            <a:endParaRPr lang="en-US" sz="1750" dirty="0"/>
          </a:p>
          <a:p>
            <a:pPr algn="l">
              <a:lnSpc>
                <a:spcPts val="2850"/>
              </a:lnSpc>
              <a:buSzPct val="100000"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✔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Настраивать внешний вид;</a:t>
            </a:r>
            <a:endParaRPr lang="en-US" sz="1750" dirty="0"/>
          </a:p>
          <a:p>
            <a:pPr algn="l">
              <a:lnSpc>
                <a:spcPts val="2850"/>
              </a:lnSpc>
              <a:buSzPct val="100000"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✔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Использовать разные роли.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6178037"/>
            <a:ext cx="9348829" cy="582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Приложение ориентировано на удобство, безопасность и простоту использования.</a:t>
            </a:r>
            <a:endParaRPr lang="en-US" sz="17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4E1D4C-AA2B-A7B5-AB35-3CFF8CD862B9}"/>
              </a:ext>
            </a:extLst>
          </p:cNvPr>
          <p:cNvSpPr txBox="1"/>
          <p:nvPr/>
        </p:nvSpPr>
        <p:spPr>
          <a:xfrm>
            <a:off x="793790" y="1995627"/>
            <a:ext cx="4981074" cy="1173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Перейти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 «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Настройки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»;</a:t>
            </a:r>
            <a:endParaRPr lang="en-US" dirty="0"/>
          </a:p>
          <a:p>
            <a:pPr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Нажать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«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Выйти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»;</a:t>
            </a:r>
            <a:endParaRPr lang="en-US" dirty="0"/>
          </a:p>
          <a:p>
            <a:pPr marL="342900" indent="-342900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Приложение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вернётся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экран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входа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CD8503-D67B-1CB1-012B-4E114B32F4AC}"/>
              </a:ext>
            </a:extLst>
          </p:cNvPr>
          <p:cNvSpPr txBox="1"/>
          <p:nvPr/>
        </p:nvSpPr>
        <p:spPr>
          <a:xfrm>
            <a:off x="793790" y="1469348"/>
            <a:ext cx="4981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завершения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работы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dirty="0"/>
          </a:p>
          <a:p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1829812-7FB2-C6EC-CAFB-DE0FF47F4847}"/>
              </a:ext>
            </a:extLst>
          </p:cNvPr>
          <p:cNvSpPr/>
          <p:nvPr/>
        </p:nvSpPr>
        <p:spPr>
          <a:xfrm>
            <a:off x="12765506" y="7411453"/>
            <a:ext cx="1732547" cy="70986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483</Words>
  <Application>Microsoft Office PowerPoint</Application>
  <PresentationFormat>Произвольный</PresentationFormat>
  <Paragraphs>100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Inter</vt:lpstr>
      <vt:lpstr>Inter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Dinar Mazitov</dc:creator>
  <cp:lastModifiedBy>Dinar Mazitov</cp:lastModifiedBy>
  <cp:revision>2</cp:revision>
  <dcterms:created xsi:type="dcterms:W3CDTF">2026-02-15T19:52:24Z</dcterms:created>
  <dcterms:modified xsi:type="dcterms:W3CDTF">2026-02-15T20:27:52Z</dcterms:modified>
</cp:coreProperties>
</file>